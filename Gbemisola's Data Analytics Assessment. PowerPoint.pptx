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5" r:id="rId3"/>
    <p:sldId id="276" r:id="rId4"/>
    <p:sldId id="286" r:id="rId5"/>
    <p:sldId id="277" r:id="rId6"/>
    <p:sldId id="278" r:id="rId7"/>
    <p:sldId id="279" r:id="rId8"/>
    <p:sldId id="288" r:id="rId9"/>
    <p:sldId id="289" r:id="rId10"/>
    <p:sldId id="274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BDC"/>
    <a:srgbClr val="4A5EE6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6"/>
  </p:normalViewPr>
  <p:slideViewPr>
    <p:cSldViewPr snapToGrid="0">
      <p:cViewPr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4/9/2025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4/9/2025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1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768" y="633753"/>
            <a:ext cx="7414940" cy="5783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8" y="1313284"/>
            <a:ext cx="6226593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3347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1"/>
            <a:ext cx="10506416" cy="1128519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63DD79-6EE3-B8D8-0CBF-2151E351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438" y="2090460"/>
            <a:ext cx="4729163" cy="3271838"/>
          </a:xfrm>
          <a:custGeom>
            <a:avLst/>
            <a:gdLst>
              <a:gd name="connsiteX0" fmla="*/ 0 w 4729163"/>
              <a:gd name="connsiteY0" fmla="*/ 0 h 3271838"/>
              <a:gd name="connsiteX1" fmla="*/ 4729163 w 4729163"/>
              <a:gd name="connsiteY1" fmla="*/ 0 h 3271838"/>
              <a:gd name="connsiteX2" fmla="*/ 4729163 w 4729163"/>
              <a:gd name="connsiteY2" fmla="*/ 1519113 h 3271838"/>
              <a:gd name="connsiteX3" fmla="*/ 4674888 w 4729163"/>
              <a:gd name="connsiteY3" fmla="*/ 1524585 h 3271838"/>
              <a:gd name="connsiteX4" fmla="*/ 4145679 w 4729163"/>
              <a:gd name="connsiteY4" fmla="*/ 2173901 h 3271838"/>
              <a:gd name="connsiteX5" fmla="*/ 4674888 w 4729163"/>
              <a:gd name="connsiteY5" fmla="*/ 2823218 h 3271838"/>
              <a:gd name="connsiteX6" fmla="*/ 4729163 w 4729163"/>
              <a:gd name="connsiteY6" fmla="*/ 2828689 h 3271838"/>
              <a:gd name="connsiteX7" fmla="*/ 4729163 w 4729163"/>
              <a:gd name="connsiteY7" fmla="*/ 3271838 h 3271838"/>
              <a:gd name="connsiteX8" fmla="*/ 0 w 4729163"/>
              <a:gd name="connsiteY8" fmla="*/ 3271838 h 327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9163" h="3271838">
                <a:moveTo>
                  <a:pt x="0" y="0"/>
                </a:moveTo>
                <a:lnTo>
                  <a:pt x="4729163" y="0"/>
                </a:lnTo>
                <a:lnTo>
                  <a:pt x="4729163" y="1519113"/>
                </a:lnTo>
                <a:lnTo>
                  <a:pt x="4674888" y="1524585"/>
                </a:lnTo>
                <a:cubicBezTo>
                  <a:pt x="4372869" y="1586387"/>
                  <a:pt x="4145679" y="1853613"/>
                  <a:pt x="4145679" y="2173901"/>
                </a:cubicBezTo>
                <a:cubicBezTo>
                  <a:pt x="4145679" y="2494190"/>
                  <a:pt x="4372869" y="2761416"/>
                  <a:pt x="4674888" y="2823218"/>
                </a:cubicBezTo>
                <a:lnTo>
                  <a:pt x="4729163" y="2828689"/>
                </a:lnTo>
                <a:lnTo>
                  <a:pt x="4729163" y="3271838"/>
                </a:lnTo>
                <a:lnTo>
                  <a:pt x="0" y="32718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50" y="2087562"/>
            <a:ext cx="4375150" cy="38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3A22C8-6F2C-1CDE-8309-91BEE025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2117" y="3601579"/>
            <a:ext cx="1325563" cy="1325563"/>
          </a:xfrm>
          <a:prstGeom prst="ellipse">
            <a:avLst/>
          </a:prstGeom>
          <a:solidFill>
            <a:schemeClr val="accent1">
              <a:alpha val="892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D6503F-0A61-068C-55A7-DCFF406FB3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B612C-940F-4C41-D28D-9328F15241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8985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445" y="2043946"/>
            <a:ext cx="6034216" cy="1439604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3445" y="3469262"/>
            <a:ext cx="6034216" cy="108564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cap="all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1B6B04-886C-2862-3BD4-97071FCAD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F1657-AAC1-699F-C320-E5260E380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>
            <a:no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reeform 5" descr="Man looking up at skyscrapers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880" y="1781357"/>
            <a:ext cx="5157787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80" y="2605269"/>
            <a:ext cx="5157787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292" y="1781357"/>
            <a:ext cx="5183188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292" y="2605269"/>
            <a:ext cx="5183188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EB52FD-12DF-7F90-E06C-0C83CEB26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5B760E-02DF-5B11-D744-D98DE8A01E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FEC7-DD3B-F9AE-2192-83960534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383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23487"/>
          <a:stretch/>
        </p:blipFill>
        <p:spPr>
          <a:xfrm>
            <a:off x="2531165" y="2125402"/>
            <a:ext cx="927983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00" y="1155320"/>
            <a:ext cx="8244113" cy="970081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000" b="0" i="0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04A311B-BF0E-4ABD-250E-58093E12EC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8500" y="2229358"/>
            <a:ext cx="7044643" cy="55918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1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227E488-456A-A645-EEF4-38AAED9C5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327" y="1747520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4825303-FCCD-E705-1213-BF7CF16DF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326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5524" y="5567730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A9E795C-FED0-FB6B-2D18-0BDABCA2C5B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8996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F18F814-0B06-5B49-EC7F-2FFDDB498F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8996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518B0AC6-8555-9EC9-31D5-2D41E9278A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31421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1026B989-CBAD-BCCA-CE61-AC5ABC3F87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39567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A6E4A81-98BC-4A0B-637E-A8A4EF704A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9567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71F3A8D-7485-35BA-4D51-752E669CD5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0967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C3EE756-2FF0-64E0-D905-235B8973F7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5515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5068E76-B8E5-A95C-FAAC-7F43B2481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515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5985B1DB-E488-ABA9-E8FB-18D2006DCE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513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C1105-93C5-0E50-1656-271A54E5D97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4F48D-1D23-34DB-1FB6-07EEB752692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8D869122-E2BC-ED44-681B-43F70BEF8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255CBD6C-C281-8722-27D4-3D2CC5788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0665" y="1650517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1774C4E-7344-8232-3750-E424576E1D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81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1CE5D490-4727-FFF1-4BFF-A3DED42EC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312" y="358765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53802057-01C6-8655-30FA-091AC2692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38242" y="1656748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9E47AF5-CB74-C3EB-76CA-1CA76678E2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362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890DFA6A-3356-DE98-022D-0DA202FBFD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201" y="358977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4EB02CDB-488A-8142-CAF9-8E37FFF7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819" y="166297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F3265D0-915B-E319-A154-B81C7A2C5B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3813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CC0A1957-087D-BAC8-2FD3-C7879A14D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090" y="359400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FA0782-5A43-CA2A-3152-A02B9D5D74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33396" y="166920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922E682-729B-97DE-1956-5B8FDDB7A7B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31390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A2E2333-661F-499A-4099-13003D5327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31978" y="359189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C2B0E64-6036-C50A-4B09-3307E136D0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665" y="4221285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1360129-7F80-B48D-D46B-A111F17E47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1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34A00EE2-7DE2-BF48-E0C1-81C2158B41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5312" y="615040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90EE9725-A8CC-5A72-59F1-663EECC9FD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38242" y="4218973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74C74F1-405C-C6EE-A607-2236B9B08E0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362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F3B25311-1AE4-31EC-9514-AD4642A2B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4201" y="6151618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EA14E23B-F3B1-C7A2-B03A-1CEABC2E4CF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5819" y="422012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914135F-F251-D319-FE2A-787B519F90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83813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A39619BE-B308-86FC-D02B-5B8AE1C8B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3090" y="614918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D44FC776-875A-9EAD-435C-F5D0F3DF38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3396" y="4222440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9DED069-060F-0176-B4A9-26120A147B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1390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4AD10861-EBBA-146D-C4EC-C0252F808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1978" y="6152835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2A1B4-8B38-9645-3655-35A4232B984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77F83-709B-A595-838B-A50CBBA8DB7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1">
            <a:extLst>
              <a:ext uri="{FF2B5EF4-FFF2-40B4-BE49-F238E27FC236}">
                <a16:creationId xmlns:a16="http://schemas.microsoft.com/office/drawing/2014/main" id="{3995F526-330B-DAB7-25A1-EFA47C9C8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93B8605C-A60E-DE47-5851-9BF04601C8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790" y="1864186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7B436DCE-21AD-38E2-5C66-1BA0938511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805" y="2553205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3A8FAFF0-E023-1B32-CC58-E8ABA8632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790" y="4057317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B73215FA-B8EB-7DD7-837F-F76B74F837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1805" y="4746336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ED9AA9-2FB1-B400-47C0-803090B07B01}"/>
              </a:ext>
            </a:extLst>
          </p:cNvPr>
          <p:cNvSpPr/>
          <p:nvPr userDrawn="1"/>
        </p:nvSpPr>
        <p:spPr>
          <a:xfrm>
            <a:off x="7793831" y="810843"/>
            <a:ext cx="3091172" cy="5597912"/>
          </a:xfrm>
          <a:prstGeom prst="rect">
            <a:avLst/>
          </a:prstGeom>
          <a:solidFill>
            <a:schemeClr val="accent1">
              <a:alpha val="9323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4510" y="1066373"/>
            <a:ext cx="2243137" cy="4929188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DE571619-8CCB-E378-472D-84C8ED7F8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91099" y="1066373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4A772672-1696-B0AC-34A7-37560F101D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1099" y="3716568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21385B8-472C-422F-2A52-C7133619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E7CA9C-8486-4EA1-8701-DB28FF478598}"/>
              </a:ext>
            </a:extLst>
          </p:cNvPr>
          <p:cNvSpPr/>
          <p:nvPr userDrawn="1"/>
        </p:nvSpPr>
        <p:spPr>
          <a:xfrm>
            <a:off x="2060160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5C378C59-971F-BF38-742D-D95B205A12C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40257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BAF3E19-6FBE-8CBB-4079-33F65C860D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257" y="3029583"/>
            <a:ext cx="2940863" cy="100200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cap="all" spc="300" baseline="0"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C42666-9F54-E92B-0327-85CCBAD21F0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44257" y="4053021"/>
            <a:ext cx="2944737" cy="2284667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FF2E1B-0868-370D-4DD5-C9FAA608FAF8}"/>
              </a:ext>
            </a:extLst>
          </p:cNvPr>
          <p:cNvSpPr/>
          <p:nvPr userDrawn="1"/>
        </p:nvSpPr>
        <p:spPr>
          <a:xfrm>
            <a:off x="5617535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4A9B4F-A838-18BA-A205-674E6E13EB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07541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35959781-AA1F-7789-57AC-F3583B408E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17227" y="3064120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AFA26A-367B-C958-6FDA-30DC18B385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7226" y="4066126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993317-B15E-4278-C4C8-D2C8F54AED79}"/>
              </a:ext>
            </a:extLst>
          </p:cNvPr>
          <p:cNvSpPr/>
          <p:nvPr userDrawn="1"/>
        </p:nvSpPr>
        <p:spPr>
          <a:xfrm>
            <a:off x="8836567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320E0A84-9337-4401-9D13-157978C6077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333421" y="200471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AC8F3009-6B00-DF9F-8517-05A8265566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3008" y="3029583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51E11FB-D524-5781-B4B3-F6E5484F19F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98539" y="4031589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B1E6-E67B-3B07-B464-6C782D2D21E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D2A3-D5E9-1D68-8AB2-1DB5C21E912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046038"/>
            <a:ext cx="4831207" cy="356813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66" y="1112838"/>
            <a:ext cx="3475649" cy="497522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0733" y="2803273"/>
            <a:ext cx="2121408" cy="2121408"/>
          </a:xfrm>
          <a:prstGeom prst="ellipse">
            <a:avLst/>
          </a:prstGeom>
          <a:solidFill>
            <a:schemeClr val="accent1">
              <a:alpha val="89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58537" y="4711495"/>
            <a:ext cx="192024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C7A66511-B85E-197E-52D6-398E0BABD4A3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>
              <a:alpha val="6736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600" b="1" i="0" baseline="0">
                <a:solidFill>
                  <a:schemeClr val="bg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3790988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DD54-AC6C-8FD6-3ABF-282F1F124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BBA03-8EAF-9651-6DC8-7316BA1FE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1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52" r:id="rId5"/>
    <p:sldLayoutId id="2147483665" r:id="rId6"/>
    <p:sldLayoutId id="2147483653" r:id="rId7"/>
    <p:sldLayoutId id="2147483654" r:id="rId8"/>
    <p:sldLayoutId id="2147483658" r:id="rId9"/>
    <p:sldLayoutId id="2147483655" r:id="rId10"/>
    <p:sldLayoutId id="2147483656" r:id="rId11"/>
    <p:sldLayoutId id="2147483657" r:id="rId12"/>
    <p:sldLayoutId id="2147483664" r:id="rId13"/>
    <p:sldLayoutId id="214748366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7.png"/><Relationship Id="rId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gbemisolaomotolani@g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Analytics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Assessment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FD8D3D-82CB-EA16-814E-A3FED8BBF3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Gbemisola </a:t>
            </a:r>
            <a:r>
              <a:rPr lang="en-US" dirty="0" err="1">
                <a:solidFill>
                  <a:schemeClr val="bg1"/>
                </a:solidFill>
              </a:rPr>
              <a:t>Abolade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84E2-4C7E-D7E0-9603-A0CE74B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219" y="-772160"/>
            <a:ext cx="4834517" cy="187012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22" name="Picture Placeholder 11" descr="Close-up of skyscrapers">
            <a:extLst>
              <a:ext uri="{FF2B5EF4-FFF2-40B4-BE49-F238E27FC236}">
                <a16:creationId xmlns:a16="http://schemas.microsoft.com/office/drawing/2014/main" id="{02CB0A40-C392-7AEB-F580-EA0981B3CB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26000" contras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 dpi="0" rotWithShape="1"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24"/>
            </a:stretch>
          </a:blipFill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50CB90F-9D48-F8DD-961F-C3F1AE2B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4460" y="1345318"/>
            <a:ext cx="4834517" cy="416618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1</a:t>
            </a:r>
          </a:p>
          <a:p>
            <a:r>
              <a:rPr lang="en-US" dirty="0">
                <a:solidFill>
                  <a:schemeClr val="bg1"/>
                </a:solidFill>
              </a:rPr>
              <a:t>Question 2</a:t>
            </a:r>
          </a:p>
          <a:p>
            <a:r>
              <a:rPr lang="en-US" dirty="0">
                <a:solidFill>
                  <a:schemeClr val="bg1"/>
                </a:solidFill>
              </a:rPr>
              <a:t>Question 3</a:t>
            </a:r>
          </a:p>
          <a:p>
            <a:r>
              <a:rPr lang="en-US" dirty="0">
                <a:solidFill>
                  <a:schemeClr val="bg1"/>
                </a:solidFill>
              </a:rPr>
              <a:t>Question 4</a:t>
            </a:r>
          </a:p>
          <a:p>
            <a:r>
              <a:rPr lang="en-US" dirty="0">
                <a:solidFill>
                  <a:schemeClr val="bg1"/>
                </a:solidFill>
              </a:rPr>
              <a:t>Question 5</a:t>
            </a:r>
          </a:p>
          <a:p>
            <a:r>
              <a:rPr lang="en-US" dirty="0">
                <a:solidFill>
                  <a:schemeClr val="bg1"/>
                </a:solidFill>
              </a:rPr>
              <a:t>Insights</a:t>
            </a:r>
          </a:p>
          <a:p>
            <a:r>
              <a:rPr lang="en-US" dirty="0">
                <a:solidFill>
                  <a:schemeClr val="bg1"/>
                </a:solidFill>
              </a:rPr>
              <a:t>Recommendations </a:t>
            </a:r>
          </a:p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78531-1E9F-3E5A-7A85-E9CA9A5C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2" y="2918445"/>
            <a:ext cx="251791" cy="2071501"/>
          </a:xfrm>
          <a:prstGeom prst="rect">
            <a:avLst/>
          </a:prstGeom>
          <a:solidFill>
            <a:srgbClr val="4A5EE6">
              <a:alpha val="76078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3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52655-72F7-26B4-5DA5-07E2346C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59" y="132507"/>
            <a:ext cx="4191341" cy="4580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1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2E16497-4AD4-29BC-9602-2FDFDA688E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2D1EE3-10BA-7879-1DC3-ACF7D44361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70C639-5679-4EE6-8C0B-1374742CE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1" y="590551"/>
            <a:ext cx="5722411" cy="18603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21F937-E0EE-4CD4-AB7E-91CBB25C4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4" y="2522366"/>
            <a:ext cx="5744508" cy="25171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9305E0-3C23-441D-BAF3-3BDF9C755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4" y="5080314"/>
            <a:ext cx="5744509" cy="1891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3FAF12-CB10-48DD-B36E-D09F704F8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2507"/>
            <a:ext cx="5610225" cy="646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0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3C5A-CEA8-6DDC-B3F1-41D07C4F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20" y="-1"/>
            <a:ext cx="6034216" cy="590551"/>
          </a:xfrm>
        </p:spPr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0E13AC-B5E7-B132-0EB7-541E53B3DA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6E68C1-1703-73CF-D4D8-D10C96073F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/>
          </a:solidFill>
        </p:spPr>
        <p:txBody>
          <a:bodyPr/>
          <a:lstStyle/>
          <a:p>
            <a:fld id="{09A01C0A-2BB6-49E7-91A3-DCB9F9F5958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7D792F-5FC6-4BD6-9600-AD1C38D2C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46" y="720407"/>
            <a:ext cx="10726929" cy="601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1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8CC3-7107-300E-F28E-20A5D6EB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36312" y="25808"/>
            <a:ext cx="10122632" cy="65205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2019C-5BC9-A628-7DDB-469DAE4B64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8C79-AE91-FF3F-0612-FC961FFD3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0DF29F6-6320-4603-8590-EE9CC0C1E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435592"/>
            <a:ext cx="1182637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SQL (Structured Query Language):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language used to manage and manipulate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collection of structured information stored electronically.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DBMS (Database Management System):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Software that interacts with users and databases </a:t>
            </a:r>
            <a:endParaRPr kumimoji="0" lang="en-US" altLang="en-NG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manage data (e.g., MySQL, PostgreSQL).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Worksheet: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single spreadsheet within an Excel file where data is entered, </a:t>
            </a:r>
            <a:r>
              <a:rPr kumimoji="0" lang="en-NG" altLang="en-NG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analyzed</a:t>
            </a: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visualized.</a:t>
            </a:r>
          </a:p>
        </p:txBody>
      </p:sp>
    </p:spTree>
    <p:extLst>
      <p:ext uri="{BB962C8B-B14F-4D97-AF65-F5344CB8AC3E}">
        <p14:creationId xmlns:p14="http://schemas.microsoft.com/office/powerpoint/2010/main" val="1643288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B9C5-183A-3556-D047-215BDB00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" y="111977"/>
            <a:ext cx="4074892" cy="652054"/>
          </a:xfrm>
          <a:solidFill>
            <a:srgbClr val="00206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Question 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36772-0FC0-04E1-F535-F4DF7DAB98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3CCEA-C12A-DDE4-040B-E2BBFEC5AE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6AE2C-454D-4273-A6DC-1B7AA2E91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670560"/>
            <a:ext cx="4378960" cy="2758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A5C951-8FA3-4347-8749-57C56EEB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" y="3505199"/>
            <a:ext cx="4378960" cy="32408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2DA088-4A0D-4890-8765-C3A0D2F29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566" y="670559"/>
            <a:ext cx="3613367" cy="27584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28CB99-29FA-4AB4-BD49-00D4F2262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913" y="3505199"/>
            <a:ext cx="3613367" cy="32408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6A33DE-69C6-4DBA-877F-10A9ABC6C4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615" y="670558"/>
            <a:ext cx="3803405" cy="27584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B38209-7518-4831-81C1-D7FB88DFC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8615" y="3505199"/>
            <a:ext cx="3803405" cy="324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C975-C0D8-5635-3CD4-B28EE357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60" y="149869"/>
            <a:ext cx="4146139" cy="84581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Question 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FE709F-757F-9DAB-DC56-68FD7C46FC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7158D5-C54E-C1C2-70BB-D7F577BB8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FAE5F-91A1-46B8-9A88-AF8F1E152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812"/>
            <a:ext cx="12191999" cy="502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9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34D3-1796-48AE-978D-B8D34439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61" y="291721"/>
            <a:ext cx="3241900" cy="81572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Insights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00ACA-D917-4284-89FB-95D93767F8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6DD93-7CBF-4A00-BEAC-8DEB32702F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F14FD-0ECA-4901-913B-2CF71A16B8F5}"/>
              </a:ext>
            </a:extLst>
          </p:cNvPr>
          <p:cNvSpPr txBox="1"/>
          <p:nvPr/>
        </p:nvSpPr>
        <p:spPr>
          <a:xfrm>
            <a:off x="0" y="935757"/>
            <a:ext cx="534966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Fashion Store Customer Data (50 Customers)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Popular Sizes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Sizes </a:t>
            </a:r>
            <a:r>
              <a:rPr lang="en-US" b="1" dirty="0">
                <a:solidFill>
                  <a:schemeClr val="bg1"/>
                </a:solidFill>
              </a:rPr>
              <a:t>Medium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Large</a:t>
            </a:r>
            <a:r>
              <a:rPr lang="en-US" dirty="0">
                <a:solidFill>
                  <a:schemeClr val="bg1"/>
                </a:solidFill>
              </a:rPr>
              <a:t> made up the highest portion of sales, as seen in the size distribution chart.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Indicates that customers commonly fall within mid-range size categories.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Spending Trend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 bar chart shows that a few individual customers made significantly higher purchases, showing a typical </a:t>
            </a:r>
            <a:r>
              <a:rPr lang="en-US" b="1" dirty="0">
                <a:solidFill>
                  <a:schemeClr val="bg1"/>
                </a:solidFill>
              </a:rPr>
              <a:t>80/20 revenue pattern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These top spenders may be targeted for premium offerings or loyalty rewards.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Age Distribution vs Spending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Customers between </a:t>
            </a:r>
            <a:r>
              <a:rPr lang="en-US" b="1" dirty="0">
                <a:solidFill>
                  <a:schemeClr val="bg1"/>
                </a:solidFill>
              </a:rPr>
              <a:t>27 and 35 years</a:t>
            </a:r>
            <a:r>
              <a:rPr lang="en-US" dirty="0">
                <a:solidFill>
                  <a:schemeClr val="bg1"/>
                </a:solidFill>
              </a:rPr>
              <a:t> spent the most on fashion items.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Younger customers (below 25) had lower average spending.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A92EE-6D0B-4448-BE51-D970B91B55AB}"/>
              </a:ext>
            </a:extLst>
          </p:cNvPr>
          <p:cNvSpPr txBox="1"/>
          <p:nvPr/>
        </p:nvSpPr>
        <p:spPr>
          <a:xfrm>
            <a:off x="5871970" y="566931"/>
            <a:ext cx="593598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Supermarket Customer Data (5 Customers with Subqueries)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Above-Average Spenders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Subquery results show 3 out of 5 customers spent </a:t>
            </a:r>
            <a:r>
              <a:rPr lang="en-US" b="1" dirty="0">
                <a:solidFill>
                  <a:schemeClr val="bg1"/>
                </a:solidFill>
              </a:rPr>
              <a:t>above the average</a:t>
            </a:r>
            <a:r>
              <a:rPr lang="en-US" dirty="0">
                <a:solidFill>
                  <a:schemeClr val="bg1"/>
                </a:solidFill>
              </a:rPr>
              <a:t> ₦12,700.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These individuals were clustered around age 29–35.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Spending Status Classification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Pie chart visualizes the breakdown: </a:t>
            </a:r>
            <a:r>
              <a:rPr lang="en-US" b="1" dirty="0">
                <a:solidFill>
                  <a:schemeClr val="bg1"/>
                </a:solidFill>
              </a:rPr>
              <a:t>60% of customers were "Above Average" spenders</a:t>
            </a:r>
            <a:r>
              <a:rPr lang="en-US" dirty="0">
                <a:solidFill>
                  <a:schemeClr val="bg1"/>
                </a:solidFill>
              </a:rPr>
              <a:t>, with 40% labeled "Below Average."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This segmentation highlights spending tiers that can inform marketing strategy.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Highest Spender Identified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 KPI card highlights </a:t>
            </a:r>
            <a:r>
              <a:rPr lang="en-US" b="1" dirty="0">
                <a:solidFill>
                  <a:schemeClr val="bg1"/>
                </a:solidFill>
              </a:rPr>
              <a:t>Chuka Obi</a:t>
            </a:r>
            <a:r>
              <a:rPr lang="en-US" dirty="0">
                <a:solidFill>
                  <a:schemeClr val="bg1"/>
                </a:solidFill>
              </a:rPr>
              <a:t> as the top spender at ₦16,200.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Important for identifying high-value customers in smaller datasets.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Sales Share Pie Chart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Spending distribution shows a </a:t>
            </a:r>
            <a:r>
              <a:rPr lang="en-US" b="1" dirty="0">
                <a:solidFill>
                  <a:schemeClr val="bg1"/>
                </a:solidFill>
              </a:rPr>
              <a:t>concentration of sales in a few hands</a:t>
            </a:r>
            <a:r>
              <a:rPr lang="en-US" dirty="0">
                <a:solidFill>
                  <a:schemeClr val="bg1"/>
                </a:solidFill>
              </a:rPr>
              <a:t>, echoing the fashion dataset’s trend at a smaller scale.</a:t>
            </a:r>
          </a:p>
        </p:txBody>
      </p:sp>
    </p:spTree>
    <p:extLst>
      <p:ext uri="{BB962C8B-B14F-4D97-AF65-F5344CB8AC3E}">
        <p14:creationId xmlns:p14="http://schemas.microsoft.com/office/powerpoint/2010/main" val="362652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E116-2C19-4DE0-80C6-6010696F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01" y="149481"/>
            <a:ext cx="4450939" cy="6938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RECOMMENDATIONs 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B3B7B-E950-4562-A0B6-07DBACE7DB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1103C-285A-4713-8A81-80580EC0E3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EE7BF-193B-48A1-863E-334D617C2269}"/>
              </a:ext>
            </a:extLst>
          </p:cNvPr>
          <p:cNvSpPr txBox="1"/>
          <p:nvPr/>
        </p:nvSpPr>
        <p:spPr>
          <a:xfrm>
            <a:off x="231140" y="989043"/>
            <a:ext cx="61112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Fashion Store Customer Data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Optimize Inventory for Medium and Large Sizes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Focus stock and purchasing around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L</a:t>
            </a:r>
            <a:r>
              <a:rPr lang="en-US" dirty="0">
                <a:solidFill>
                  <a:schemeClr val="bg1"/>
                </a:solidFill>
              </a:rPr>
              <a:t> sizes to meet majority demand and reduce dead stock of less popular sizes.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Implement Targeted Marketing Campaigns by Age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Launch promotions targeting customers aged </a:t>
            </a:r>
            <a:r>
              <a:rPr lang="en-US" b="1" dirty="0">
                <a:solidFill>
                  <a:schemeClr val="bg1"/>
                </a:solidFill>
              </a:rPr>
              <a:t>27–35</a:t>
            </a:r>
            <a:r>
              <a:rPr lang="en-US" dirty="0">
                <a:solidFill>
                  <a:schemeClr val="bg1"/>
                </a:solidFill>
              </a:rPr>
              <a:t>, as they represent the highest spenders.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Focus Sales Strategy on Urban Centers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Prioritize marketing efforts and in-store events in cities like </a:t>
            </a:r>
            <a:r>
              <a:rPr lang="en-US" b="1" dirty="0">
                <a:solidFill>
                  <a:schemeClr val="bg1"/>
                </a:solidFill>
              </a:rPr>
              <a:t>Lagos, Abuja, and Ibadan</a:t>
            </a:r>
            <a:r>
              <a:rPr lang="en-US" dirty="0">
                <a:solidFill>
                  <a:schemeClr val="bg1"/>
                </a:solidFill>
              </a:rPr>
              <a:t> where customers spend more.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Introduce Loyalty Rewards for Top Spenders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Create VIP or loyalty tiers for high-value customers to encourage repeat purchases and brand loyalty.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F9B9A-C621-49CC-91AE-B216E1347A8B}"/>
              </a:ext>
            </a:extLst>
          </p:cNvPr>
          <p:cNvSpPr txBox="1"/>
          <p:nvPr/>
        </p:nvSpPr>
        <p:spPr>
          <a:xfrm>
            <a:off x="6096000" y="345440"/>
            <a:ext cx="55295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Supermarket Customer Data (Subquery Analysis)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Segment Customers Based on Spending Behavior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Use insights from subqueries (Above/Below Average) to </a:t>
            </a:r>
            <a:r>
              <a:rPr lang="en-US" b="1" dirty="0">
                <a:solidFill>
                  <a:schemeClr val="bg1"/>
                </a:solidFill>
              </a:rPr>
              <a:t>personalize offers</a:t>
            </a:r>
            <a:r>
              <a:rPr lang="en-US" dirty="0">
                <a:solidFill>
                  <a:schemeClr val="bg1"/>
                </a:solidFill>
              </a:rPr>
              <a:t> for each group—discounts for lower spenders, loyalty perks for higher spenders.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Identify and Nurture Top Spenders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Customers like </a:t>
            </a:r>
            <a:r>
              <a:rPr lang="en-US" b="1" dirty="0">
                <a:solidFill>
                  <a:schemeClr val="bg1"/>
                </a:solidFill>
              </a:rPr>
              <a:t>Chuka Obi</a:t>
            </a:r>
            <a:r>
              <a:rPr lang="en-US" dirty="0">
                <a:solidFill>
                  <a:schemeClr val="bg1"/>
                </a:solidFill>
              </a:rPr>
              <a:t>, who spend significantly more, should be flagged for special treatment, feedback collection, or reward programs.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Replicate the Model Store Setup in High-Spending Locations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If spending correlates with specific locations, consider </a:t>
            </a:r>
            <a:r>
              <a:rPr lang="en-US" b="1" dirty="0">
                <a:solidFill>
                  <a:schemeClr val="bg1"/>
                </a:solidFill>
              </a:rPr>
              <a:t>expanding store presence</a:t>
            </a:r>
            <a:r>
              <a:rPr lang="en-US" dirty="0">
                <a:solidFill>
                  <a:schemeClr val="bg1"/>
                </a:solidFill>
              </a:rPr>
              <a:t> or improving service in those regions.</a:t>
            </a:r>
          </a:p>
        </p:txBody>
      </p:sp>
    </p:spTree>
    <p:extLst>
      <p:ext uri="{BB962C8B-B14F-4D97-AF65-F5344CB8AC3E}">
        <p14:creationId xmlns:p14="http://schemas.microsoft.com/office/powerpoint/2010/main" val="164080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73" y="133634"/>
            <a:ext cx="3199828" cy="48612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4325A5-D39C-C1D3-2E04-F741DCBB2B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C7ECE-6B8F-A6C6-C92D-4C1BB62455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32E43D-FCB1-492B-8F97-AFD5BC1719A4}"/>
              </a:ext>
            </a:extLst>
          </p:cNvPr>
          <p:cNvSpPr txBox="1"/>
          <p:nvPr/>
        </p:nvSpPr>
        <p:spPr>
          <a:xfrm>
            <a:off x="152973" y="489234"/>
            <a:ext cx="10819827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assessment demonstrated a comprehensive approach to data analytics, utilizing </a:t>
            </a:r>
            <a:r>
              <a:rPr lang="en-US" b="1" dirty="0">
                <a:solidFill>
                  <a:schemeClr val="bg1"/>
                </a:solidFill>
              </a:rPr>
              <a:t>Excel, MySQL</a:t>
            </a:r>
            <a:r>
              <a:rPr lang="en-US" dirty="0">
                <a:solidFill>
                  <a:schemeClr val="bg1"/>
                </a:solidFill>
              </a:rPr>
              <a:t>, and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 to analyze customer behavior in both a </a:t>
            </a:r>
            <a:r>
              <a:rPr lang="en-US" b="1" dirty="0">
                <a:solidFill>
                  <a:schemeClr val="bg1"/>
                </a:solidFill>
              </a:rPr>
              <a:t>fashion store</a:t>
            </a:r>
            <a:r>
              <a:rPr lang="en-US" dirty="0">
                <a:solidFill>
                  <a:schemeClr val="bg1"/>
                </a:solidFill>
              </a:rPr>
              <a:t> and a </a:t>
            </a:r>
            <a:r>
              <a:rPr lang="en-US" b="1" dirty="0">
                <a:solidFill>
                  <a:schemeClr val="bg1"/>
                </a:solidFill>
              </a:rPr>
              <a:t>supermarket.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Fashion Store Customer Data: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Insights from the </a:t>
            </a:r>
            <a:r>
              <a:rPr lang="en-US" b="1" dirty="0">
                <a:solidFill>
                  <a:schemeClr val="bg1"/>
                </a:solidFill>
              </a:rPr>
              <a:t>fashion store dataset</a:t>
            </a:r>
            <a:r>
              <a:rPr lang="en-US" dirty="0">
                <a:solidFill>
                  <a:schemeClr val="bg1"/>
                </a:solidFill>
              </a:rPr>
              <a:t> focused on </a:t>
            </a:r>
            <a:r>
              <a:rPr lang="en-US" b="1" dirty="0">
                <a:solidFill>
                  <a:schemeClr val="bg1"/>
                </a:solidFill>
              </a:rPr>
              <a:t>size preferences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spending habits</a:t>
            </a:r>
            <a:r>
              <a:rPr lang="en-US" dirty="0">
                <a:solidFill>
                  <a:schemeClr val="bg1"/>
                </a:solidFill>
              </a:rPr>
              <a:t>, and </a:t>
            </a:r>
            <a:r>
              <a:rPr lang="en-US" b="1" dirty="0">
                <a:solidFill>
                  <a:schemeClr val="bg1"/>
                </a:solidFill>
              </a:rPr>
              <a:t>age demographics</a:t>
            </a:r>
            <a:r>
              <a:rPr lang="en-US" dirty="0">
                <a:solidFill>
                  <a:schemeClr val="bg1"/>
                </a:solidFill>
              </a:rPr>
              <a:t>. Key findings revealed a high demand for </a:t>
            </a:r>
            <a:r>
              <a:rPr lang="en-US" b="1" dirty="0">
                <a:solidFill>
                  <a:schemeClr val="bg1"/>
                </a:solidFill>
              </a:rPr>
              <a:t>Medium and Large</a:t>
            </a:r>
            <a:r>
              <a:rPr lang="en-US" dirty="0">
                <a:solidFill>
                  <a:schemeClr val="bg1"/>
                </a:solidFill>
              </a:rPr>
              <a:t> sizes and a higher spending trend among customers aged </a:t>
            </a:r>
            <a:r>
              <a:rPr lang="en-US" b="1" dirty="0">
                <a:solidFill>
                  <a:schemeClr val="bg1"/>
                </a:solidFill>
              </a:rPr>
              <a:t>27–35</a:t>
            </a:r>
            <a:r>
              <a:rPr lang="en-US" dirty="0">
                <a:solidFill>
                  <a:schemeClr val="bg1"/>
                </a:solidFill>
              </a:rPr>
              <a:t>. Spending was more concentrated in </a:t>
            </a:r>
            <a:r>
              <a:rPr lang="en-US" b="1" dirty="0">
                <a:solidFill>
                  <a:schemeClr val="bg1"/>
                </a:solidFill>
              </a:rPr>
              <a:t>urban centers</a:t>
            </a:r>
            <a:r>
              <a:rPr lang="en-US" dirty="0">
                <a:solidFill>
                  <a:schemeClr val="bg1"/>
                </a:solidFill>
              </a:rPr>
              <a:t> such as </a:t>
            </a:r>
            <a:r>
              <a:rPr lang="en-US" b="1" dirty="0">
                <a:solidFill>
                  <a:schemeClr val="bg1"/>
                </a:solidFill>
              </a:rPr>
              <a:t>Lagos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Abuja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2. Supermarket Customer Data:</a:t>
            </a:r>
          </a:p>
          <a:p>
            <a:r>
              <a:rPr lang="en-US" dirty="0">
                <a:solidFill>
                  <a:schemeClr val="bg1"/>
                </a:solidFill>
              </a:rPr>
              <a:t>	The </a:t>
            </a:r>
            <a:r>
              <a:rPr lang="en-US" b="1" dirty="0">
                <a:solidFill>
                  <a:schemeClr val="bg1"/>
                </a:solidFill>
              </a:rPr>
              <a:t>supermarket dataset</a:t>
            </a:r>
            <a:r>
              <a:rPr lang="en-US" dirty="0">
                <a:solidFill>
                  <a:schemeClr val="bg1"/>
                </a:solidFill>
              </a:rPr>
              <a:t>, analyzed using </a:t>
            </a:r>
            <a:r>
              <a:rPr lang="en-US" b="1" dirty="0">
                <a:solidFill>
                  <a:schemeClr val="bg1"/>
                </a:solidFill>
              </a:rPr>
              <a:t>subqueries</a:t>
            </a:r>
            <a:r>
              <a:rPr lang="en-US" dirty="0">
                <a:solidFill>
                  <a:schemeClr val="bg1"/>
                </a:solidFill>
              </a:rPr>
              <a:t> in SQL, provided detailed insights. Subqueries were used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customers who spent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above average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by using the</a:t>
            </a:r>
            <a:r>
              <a:rPr kumimoji="0" lang="en-US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AVG()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Segment customers as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Above Average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NG" altLang="en-NG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Below Average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spenders using the</a:t>
            </a:r>
            <a:r>
              <a:rPr kumimoji="0" lang="en-US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CASE </a:t>
            </a:r>
            <a:r>
              <a:rPr kumimoji="0" lang="en-US" altLang="en-NG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statementin</a:t>
            </a:r>
            <a:r>
              <a:rPr kumimoji="0" lang="en-US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subquery.</a:t>
            </a:r>
            <a:r>
              <a:rPr kumimoji="0" lang="en-NG" altLang="en-NG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NG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These subqueries enabled effective segmentation, helping us better understand spending behavior even with a small dataset.</a:t>
            </a:r>
          </a:p>
          <a:p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Actionable Recommendations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For the </a:t>
            </a:r>
            <a:r>
              <a:rPr lang="en-US" b="1" dirty="0">
                <a:solidFill>
                  <a:schemeClr val="bg1"/>
                </a:solidFill>
              </a:rPr>
              <a:t>fashion store</a:t>
            </a:r>
            <a:r>
              <a:rPr lang="en-US" dirty="0">
                <a:solidFill>
                  <a:schemeClr val="bg1"/>
                </a:solidFill>
              </a:rPr>
              <a:t>, prioritize stocking </a:t>
            </a:r>
            <a:r>
              <a:rPr lang="en-US" b="1" dirty="0">
                <a:solidFill>
                  <a:schemeClr val="bg1"/>
                </a:solidFill>
              </a:rPr>
              <a:t>Medium and Large</a:t>
            </a:r>
            <a:r>
              <a:rPr lang="en-US" dirty="0">
                <a:solidFill>
                  <a:schemeClr val="bg1"/>
                </a:solidFill>
              </a:rPr>
              <a:t> sizes and target marketing towards </a:t>
            </a:r>
            <a:r>
              <a:rPr lang="en-US" b="1" dirty="0">
                <a:solidFill>
                  <a:schemeClr val="bg1"/>
                </a:solidFill>
              </a:rPr>
              <a:t>customers aged 27–35</a:t>
            </a:r>
            <a:r>
              <a:rPr lang="en-US" dirty="0">
                <a:solidFill>
                  <a:schemeClr val="bg1"/>
                </a:solidFill>
              </a:rPr>
              <a:t>. For the </a:t>
            </a:r>
            <a:r>
              <a:rPr lang="en-US" b="1" dirty="0">
                <a:solidFill>
                  <a:schemeClr val="bg1"/>
                </a:solidFill>
              </a:rPr>
              <a:t>supermarket</a:t>
            </a:r>
            <a:r>
              <a:rPr lang="en-US" dirty="0">
                <a:solidFill>
                  <a:schemeClr val="bg1"/>
                </a:solidFill>
              </a:rPr>
              <a:t>, focus on engaging </a:t>
            </a:r>
            <a:r>
              <a:rPr lang="en-US" b="1" dirty="0">
                <a:solidFill>
                  <a:schemeClr val="bg1"/>
                </a:solidFill>
              </a:rPr>
              <a:t>top spenders</a:t>
            </a:r>
            <a:r>
              <a:rPr lang="en-US" dirty="0">
                <a:solidFill>
                  <a:schemeClr val="bg1"/>
                </a:solidFill>
              </a:rPr>
              <a:t> using loyalty programs and segmenting campaigns based on spending levels.</a:t>
            </a:r>
          </a:p>
          <a:p>
            <a:r>
              <a:rPr lang="en-US" dirty="0">
                <a:solidFill>
                  <a:schemeClr val="bg1"/>
                </a:solidFill>
              </a:rPr>
              <a:t>By integrating </a:t>
            </a:r>
            <a:r>
              <a:rPr lang="en-US" b="1" dirty="0">
                <a:solidFill>
                  <a:schemeClr val="bg1"/>
                </a:solidFill>
              </a:rPr>
              <a:t>SQL subqueries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data visualizations</a:t>
            </a:r>
            <a:r>
              <a:rPr lang="en-US" dirty="0">
                <a:solidFill>
                  <a:schemeClr val="bg1"/>
                </a:solidFill>
              </a:rPr>
              <a:t>, this assessment highlights the importance of leveraging </a:t>
            </a:r>
            <a:r>
              <a:rPr lang="en-US" b="1" dirty="0">
                <a:solidFill>
                  <a:schemeClr val="bg1"/>
                </a:solidFill>
              </a:rPr>
              <a:t>structured data</a:t>
            </a:r>
            <a:r>
              <a:rPr lang="en-US" dirty="0">
                <a:solidFill>
                  <a:schemeClr val="bg1"/>
                </a:solidFill>
              </a:rPr>
              <a:t> for </a:t>
            </a:r>
            <a:r>
              <a:rPr lang="en-US" b="1" dirty="0">
                <a:solidFill>
                  <a:schemeClr val="bg1"/>
                </a:solidFill>
              </a:rPr>
              <a:t>business decision-making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2C22B588-92D0-4C93-9A35-F802C6FA9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A12F8-DD2F-AE73-677F-D5310D6D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1AF693-3675-52A5-9E8E-C071048A1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Gbemisola </a:t>
            </a:r>
            <a:r>
              <a:rPr lang="en-US" dirty="0" err="1"/>
              <a:t>Abolade</a:t>
            </a:r>
            <a:endParaRPr lang="en-US" dirty="0"/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gbemisolaomotolani@gmail.com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5086-0CC9-27F6-6E0B-D4F2AD6181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A5661-D5F1-FE42-FC42-CC2D27E7AA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rgbClr val="36393B"/>
      </a:dk1>
      <a:lt1>
        <a:srgbClr val="FFFFFF"/>
      </a:lt1>
      <a:dk2>
        <a:srgbClr val="3AEFCC"/>
      </a:dk2>
      <a:lt2>
        <a:srgbClr val="E7E4E6"/>
      </a:lt2>
      <a:accent1>
        <a:srgbClr val="4A5EE6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E62F0"/>
      </a:hlink>
      <a:folHlink>
        <a:srgbClr val="FC4C00"/>
      </a:folHlink>
    </a:clrScheme>
    <a:fontScheme name="Custom 9">
      <a:majorFont>
        <a:latin typeface="Arial Black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357351_Win32.potx" id="{80F03410-3B38-45A0-935B-4BE6FE1E6CFD}" vid="{B74EBAAB-C1F2-42E7-A669-BC3A21FA62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Dark modernist presentation</Template>
  <TotalTime>118</TotalTime>
  <Words>801</Words>
  <Application>Microsoft Office PowerPoint</Application>
  <PresentationFormat>Widescreen</PresentationFormat>
  <Paragraphs>111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Avenir Next LT Pro</vt:lpstr>
      <vt:lpstr>Calibri</vt:lpstr>
      <vt:lpstr>Office Theme</vt:lpstr>
      <vt:lpstr>Data Analytics Assessment </vt:lpstr>
      <vt:lpstr>AGENDA</vt:lpstr>
      <vt:lpstr>Question 1</vt:lpstr>
      <vt:lpstr>QUESTION 2</vt:lpstr>
      <vt:lpstr>QUESTION 3</vt:lpstr>
      <vt:lpstr>Question 4</vt:lpstr>
      <vt:lpstr>Question 5</vt:lpstr>
      <vt:lpstr>Insights</vt:lpstr>
      <vt:lpstr>RECOMMENDATIONs 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Assessment </dc:title>
  <dc:creator>GBEMISOLA OMOTOLANI</dc:creator>
  <cp:lastModifiedBy>GBEMISOLA OMOTOLANI</cp:lastModifiedBy>
  <cp:revision>12</cp:revision>
  <dcterms:created xsi:type="dcterms:W3CDTF">2025-04-09T14:49:18Z</dcterms:created>
  <dcterms:modified xsi:type="dcterms:W3CDTF">2025-04-09T16:47:40Z</dcterms:modified>
</cp:coreProperties>
</file>